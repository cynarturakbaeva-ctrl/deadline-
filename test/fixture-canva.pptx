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90" name="cg"/>
          <p:cNvSpPr/>
          <p:nvPr/>
        </p:nvSpPr>
        <p:spPr>
          <a:xfrm>
            <a:off x="0" y="0"/>
            <a:ext cx="12192000" cy="6858000"/>
          </a:xfrm>
          <a:custGeom>
            <a:avLst/>
            <a:gdLst/>
            <a:ahLst/>
            <a:cxnLst/>
            <a:rect l="0" t="0" r="r" b="b"/>
            <a:pathLst>
              <a:path w="1000" h="1000">
                <a:moveTo>
                  <a:pt x="0" y="0"/>
                </a:moveTo>
                <a:lnTo>
                  <a:pt x="520" y="0"/>
                </a:lnTo>
                <a:lnTo>
                  <a:pt x="520" y="1000"/>
                </a:lnTo>
                <a:lnTo>
                  <a:pt x="0" y="1000"/>
                </a:lnTo>
                <a:close/>
              </a:path>
            </a:pathLst>
          </a:custGeom>
          <a:solidFill>
            <a:srgbClr val="1D1D1D"/>
          </a:solidFill>
          <a:ln>
            <a:noFill/>
          </a:ln>
        </p:spPr>
      </p:sp>
      <p:cxnSp>
        <p:nvCxnSpPr>
          <p:cNvPr id="91" name="Connector 90"/>
          <p:cNvCxnSpPr/>
          <p:nvPr/>
        </p:nvCxnSpPr>
        <p:spPr>
          <a:xfrm>
            <a:off x="609600" y="685800"/>
            <a:ext cx="48768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243840" y="685800"/>
            <a:ext cx="4876800" cy="685800"/>
          </a:xfrm>
          <a:prstGeom prst="rect">
            <a:avLst/>
          </a:prstGeom>
          <a:noFill/>
        </p:spPr>
        <p:txBody>
          <a:bodyPr wrap="square">
            <a:spAutoFit/>
          </a:bodyPr>
          <a:lstStyle/>
          <a:p>
            <a:pPr algn="l"/>
            <a:r>
              <a:rPr sz="2800" b="0">
                <a:solidFill>
                  <a:srgbClr val="FFFFFF"/>
                </a:solidFill>
                <a:latin typeface="Lato"/>
              </a:rPr>
              <a:t>Психология</a:t>
            </a:r>
          </a:p>
        </p:txBody>
      </p:sp>
      <p:sp>
        <p:nvSpPr>
          <p:cNvPr id="93" name="TextBox 92"/>
          <p:cNvSpPr txBox="1"/>
          <p:nvPr/>
        </p:nvSpPr>
        <p:spPr>
          <a:xfrm>
            <a:off x="243840" y="2331720"/>
            <a:ext cx="5486400" cy="2057400"/>
          </a:xfrm>
          <a:prstGeom prst="rect">
            <a:avLst/>
          </a:prstGeom>
          <a:noFill/>
        </p:spPr>
        <p:txBody>
          <a:bodyPr wrap="square">
            <a:spAutoFit/>
          </a:bodyPr>
          <a:lstStyle/>
          <a:p>
            <a:pPr algn="l"/>
            <a:r>
              <a:rPr sz="3600" b="1">
                <a:solidFill>
                  <a:srgbClr val="FFFFFF"/>
                </a:solidFill>
                <a:latin typeface="Lora"/>
              </a:rPr>
              <a:t>ӨМІР ЖОЛЫ ЖӘНЕ</a:t>
            </a:r>
          </a:p>
          <a:p>
            <a:pPr algn="l"/>
            <a:r>
              <a:rPr sz="3600" b="1">
                <a:solidFill>
                  <a:srgbClr val="FFFFFF"/>
                </a:solidFill>
                <a:latin typeface="Lora"/>
              </a:rPr>
              <a:t>МАМАН ИМИДЖІ</a:t>
            </a:r>
          </a:p>
        </p:txBody>
      </p:sp>
      <p:sp>
        <p:nvSpPr>
          <p:cNvPr id="94" name="TextBox 93"/>
          <p:cNvSpPr txBox="1"/>
          <p:nvPr/>
        </p:nvSpPr>
        <p:spPr>
          <a:xfrm>
            <a:off x="243840" y="5623560"/>
            <a:ext cx="3657600" cy="685800"/>
          </a:xfrm>
          <a:prstGeom prst="rect">
            <a:avLst/>
          </a:prstGeom>
          <a:noFill/>
        </p:spPr>
        <p:txBody>
          <a:bodyPr wrap="square">
            <a:spAutoFit/>
          </a:bodyPr>
          <a:lstStyle/>
          <a:p>
            <a:pPr algn="l"/>
            <a:r>
              <a:rPr sz="1400" b="0">
                <a:solidFill>
                  <a:srgbClr val="FFFFFF"/>
                </a:solidFill>
                <a:latin typeface="Lato"/>
              </a:rPr>
              <a:t>By Nurkaev Murzabek</a:t>
            </a:r>
          </a:p>
        </p:txBody>
      </p:sp>
      <p:pic>
        <p:nvPicPr>
          <p:cNvPr id="95" name="Picture 94" descr="image.png"/>
          <p:cNvPicPr>
            <a:picLocks noChangeAspect="1"/>
          </p:cNvPicPr>
          <p:nvPr/>
        </p:nvPicPr>
        <p:blipFill>
          <a:blip r:embed="rId3"/>
          <a:stretch>
            <a:fillRect/>
          </a:stretch>
        </p:blipFill>
        <p:spPr>
          <a:xfrm>
            <a:off x="6949439" y="1371600"/>
            <a:ext cx="3657600" cy="3703320"/>
          </a:xfrm>
          <a:prstGeom prst="ellipse">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Oval 1"/>
          <p:cNvSpPr/>
          <p:nvPr/>
        </p:nvSpPr>
        <p:spPr>
          <a:xfrm>
            <a:off x="426720"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85216"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43712"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705600" y="514350"/>
            <a:ext cx="48768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pic>
        <p:nvPicPr>
          <p:cNvPr id="6" name="Picture 5" descr="image.png"/>
          <p:cNvPicPr>
            <a:picLocks noChangeAspect="1"/>
          </p:cNvPicPr>
          <p:nvPr/>
        </p:nvPicPr>
        <p:blipFill>
          <a:blip r:embed="rId3"/>
          <a:stretch>
            <a:fillRect/>
          </a:stretch>
        </p:blipFill>
        <p:spPr>
          <a:xfrm>
            <a:off x="0" y="5897880"/>
            <a:ext cx="12192000" cy="960120"/>
          </a:xfrm>
          <a:prstGeom prst="rect">
            <a:avLst/>
          </a:prstGeom>
        </p:spPr>
      </p:pic>
      <p:sp>
        <p:nvSpPr>
          <p:cNvPr id="7" name="TextBox 6"/>
          <p:cNvSpPr txBox="1"/>
          <p:nvPr/>
        </p:nvSpPr>
        <p:spPr>
          <a:xfrm>
            <a:off x="1706880" y="274320"/>
            <a:ext cx="6096000" cy="822960"/>
          </a:xfrm>
          <a:prstGeom prst="rect">
            <a:avLst/>
          </a:prstGeom>
          <a:noFill/>
        </p:spPr>
        <p:txBody>
          <a:bodyPr wrap="square">
            <a:spAutoFit/>
          </a:bodyPr>
          <a:lstStyle/>
          <a:p>
            <a:pPr algn="ctr"/>
            <a:r>
              <a:rPr sz="2600" b="0">
                <a:solidFill>
                  <a:srgbClr val="1D1D1D"/>
                </a:solidFill>
                <a:latin typeface="Lora"/>
              </a:rPr>
              <a:t>Менің өмір жолым</a:t>
            </a:r>
          </a:p>
        </p:txBody>
      </p:sp>
      <p:sp>
        <p:nvSpPr>
          <p:cNvPr id="8" name="TextBox 7"/>
          <p:cNvSpPr txBox="1"/>
          <p:nvPr/>
        </p:nvSpPr>
        <p:spPr>
          <a:xfrm>
            <a:off x="853440" y="1371600"/>
            <a:ext cx="6705600" cy="4114800"/>
          </a:xfrm>
          <a:prstGeom prst="rect">
            <a:avLst/>
          </a:prstGeom>
          <a:noFill/>
        </p:spPr>
        <p:txBody>
          <a:bodyPr wrap="square">
            <a:spAutoFit/>
          </a:bodyPr>
          <a:lstStyle/>
          <a:p>
            <a:pPr algn="just"/>
            <a:r>
              <a:rPr sz="1700" b="0">
                <a:solidFill>
                  <a:srgbClr val="222222"/>
                </a:solidFill>
                <a:latin typeface="Lato"/>
              </a:rPr>
              <a:t>Бала кезімде өз ортамда мен алға шыққан, белсенді, батыл болып көрінетін едім. Сол ортада менің сенімім шексіз, өзімді мықты сезінетінмін. Барлық қиындыққа дайын, барін жасай алатын сияқтымын. Алайда жаңа ортаға келгенде жағдай өзгере бастады.</a:t>
            </a:r>
          </a:p>
        </p:txBody>
      </p:sp>
      <p:pic>
        <p:nvPicPr>
          <p:cNvPr id="9" name="Picture 8" descr="image.png"/>
          <p:cNvPicPr>
            <a:picLocks noChangeAspect="1"/>
          </p:cNvPicPr>
          <p:nvPr/>
        </p:nvPicPr>
        <p:blipFill>
          <a:blip r:embed="rId4"/>
          <a:stretch>
            <a:fillRect/>
          </a:stretch>
        </p:blipFill>
        <p:spPr>
          <a:xfrm>
            <a:off x="8290560" y="1165860"/>
            <a:ext cx="3169920" cy="3154680"/>
          </a:xfrm>
          <a:prstGeom prst="ellipse">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Oval 1"/>
          <p:cNvSpPr/>
          <p:nvPr/>
        </p:nvSpPr>
        <p:spPr>
          <a:xfrm>
            <a:off x="426720"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85216"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43712"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705600" y="514350"/>
            <a:ext cx="48768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pic>
        <p:nvPicPr>
          <p:cNvPr id="6" name="Picture 5" descr="image.png"/>
          <p:cNvPicPr>
            <a:picLocks noChangeAspect="1"/>
          </p:cNvPicPr>
          <p:nvPr/>
        </p:nvPicPr>
        <p:blipFill>
          <a:blip r:embed="rId3"/>
          <a:stretch>
            <a:fillRect/>
          </a:stretch>
        </p:blipFill>
        <p:spPr>
          <a:xfrm>
            <a:off x="0" y="5897880"/>
            <a:ext cx="12192000" cy="960120"/>
          </a:xfrm>
          <a:prstGeom prst="rect">
            <a:avLst/>
          </a:prstGeom>
        </p:spPr>
      </p:pic>
      <p:sp>
        <p:nvSpPr>
          <p:cNvPr id="7" name="TextBox 6"/>
          <p:cNvSpPr txBox="1"/>
          <p:nvPr/>
        </p:nvSpPr>
        <p:spPr>
          <a:xfrm>
            <a:off x="1706880" y="274320"/>
            <a:ext cx="8778240" cy="822960"/>
          </a:xfrm>
          <a:prstGeom prst="rect">
            <a:avLst/>
          </a:prstGeom>
          <a:noFill/>
        </p:spPr>
        <p:txBody>
          <a:bodyPr wrap="square">
            <a:spAutoFit/>
          </a:bodyPr>
          <a:lstStyle/>
          <a:p>
            <a:pPr algn="ctr"/>
            <a:r>
              <a:rPr sz="2600" b="0">
                <a:solidFill>
                  <a:srgbClr val="1D1D1D"/>
                </a:solidFill>
                <a:latin typeface="Lora"/>
              </a:rPr>
              <a:t>Қазіргі күнім және болашаққа дайындық</a:t>
            </a:r>
          </a:p>
        </p:txBody>
      </p:sp>
      <p:sp>
        <p:nvSpPr>
          <p:cNvPr id="8" name="TextBox 7"/>
          <p:cNvSpPr txBox="1"/>
          <p:nvPr/>
        </p:nvSpPr>
        <p:spPr>
          <a:xfrm>
            <a:off x="853440" y="1371600"/>
            <a:ext cx="10485120" cy="4114800"/>
          </a:xfrm>
          <a:prstGeom prst="rect">
            <a:avLst/>
          </a:prstGeom>
          <a:noFill/>
        </p:spPr>
        <p:txBody>
          <a:bodyPr wrap="square">
            <a:spAutoFit/>
          </a:bodyPr>
          <a:lstStyle/>
          <a:p>
            <a:pPr algn="just"/>
            <a:r>
              <a:rPr sz="1700" b="0">
                <a:solidFill>
                  <a:srgbClr val="222222"/>
                </a:solidFill>
                <a:latin typeface="Lato"/>
              </a:rPr>
              <a:t>Бала кезімде өз ортамда мен алға шыққан, белсенді, батыл болып көрінетін едім. Сол ортада менің сенімім шексіз, өзімді мықты сезінетінмін. Барлық қиындыққа дайын, барін жасай алатын сияқтымын. Алайда жаңа ортаға келгенде жағдай өзгере бастады. Бала кезімде өз ортамда мен алға шыққан, белсенді, батыл болып көрінетін едім. Сол ортада менің сенімім шексіз, өзімді мықты сезінетінмін. Барлық қиындыққа дайын, барін жасай алатын сияқтымын. Алайда жаңа ортаға келгенде жағдай өзгере бастады.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Oval 1"/>
          <p:cNvSpPr/>
          <p:nvPr/>
        </p:nvSpPr>
        <p:spPr>
          <a:xfrm>
            <a:off x="426720"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85216"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43712"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cg"/>
          <p:cNvSpPr/>
          <p:nvPr/>
        </p:nvSpPr>
        <p:spPr>
          <a:xfrm>
            <a:off x="0" y="0"/>
            <a:ext cx="12192000" cy="6858000"/>
          </a:xfrm>
          <a:custGeom>
            <a:avLst/>
            <a:gdLst/>
            <a:ahLst/>
            <a:cxnLst/>
            <a:rect l="0" t="0" r="r" b="b"/>
            <a:pathLst>
              <a:path w="1000" h="1000">
                <a:moveTo>
                  <a:pt x="640" y="0"/>
                </a:moveTo>
                <a:lnTo>
                  <a:pt x="1000" y="0"/>
                </a:lnTo>
                <a:lnTo>
                  <a:pt x="1000" y="1000"/>
                </a:lnTo>
                <a:lnTo>
                  <a:pt x="520" y="1000"/>
                </a:lnTo>
                <a:close/>
              </a:path>
            </a:pathLst>
          </a:custGeom>
          <a:solidFill>
            <a:srgbClr val="1D1D1D"/>
          </a:solidFill>
          <a:ln>
            <a:noFill/>
          </a:ln>
        </p:spPr>
      </p:sp>
      <p:pic>
        <p:nvPicPr>
          <p:cNvPr id="91" name="Picture 90" descr="image.png"/>
          <p:cNvPicPr>
            <a:picLocks noChangeAspect="1"/>
          </p:cNvPicPr>
          <p:nvPr/>
        </p:nvPicPr>
        <p:blipFill>
          <a:blip r:embed="rId3"/>
          <a:stretch>
            <a:fillRect/>
          </a:stretch>
        </p:blipFill>
        <p:spPr>
          <a:xfrm>
            <a:off x="0" y="5897880"/>
            <a:ext cx="12192000" cy="960120"/>
          </a:xfrm>
          <a:prstGeom prst="rect">
            <a:avLst/>
          </a:prstGeom>
        </p:spPr>
      </p:pic>
      <p:sp>
        <p:nvSpPr>
          <p:cNvPr id="92" name="TextBox 91"/>
          <p:cNvSpPr txBox="1"/>
          <p:nvPr/>
        </p:nvSpPr>
        <p:spPr>
          <a:xfrm>
            <a:off x="853440" y="411480"/>
            <a:ext cx="6096000" cy="685800"/>
          </a:xfrm>
          <a:prstGeom prst="rect">
            <a:avLst/>
          </a:prstGeom>
          <a:noFill/>
        </p:spPr>
        <p:txBody>
          <a:bodyPr wrap="square">
            <a:spAutoFit/>
          </a:bodyPr>
          <a:lstStyle/>
          <a:p>
            <a:pPr algn="l"/>
            <a:r>
              <a:rPr sz="2800" b="1">
                <a:solidFill>
                  <a:srgbClr val="555555"/>
                </a:solidFill>
                <a:latin typeface="Lato"/>
              </a:rPr>
              <a:t>Болашақтағы мен</a:t>
            </a:r>
          </a:p>
        </p:txBody>
      </p:sp>
      <p:sp>
        <p:nvSpPr>
          <p:cNvPr id="93" name="TextBox 92"/>
          <p:cNvSpPr txBox="1"/>
          <p:nvPr/>
        </p:nvSpPr>
        <p:spPr>
          <a:xfrm>
            <a:off x="853440" y="1371600"/>
            <a:ext cx="6096000" cy="4114800"/>
          </a:xfrm>
          <a:prstGeom prst="rect">
            <a:avLst/>
          </a:prstGeom>
          <a:noFill/>
        </p:spPr>
        <p:txBody>
          <a:bodyPr wrap="square">
            <a:spAutoFit/>
          </a:bodyPr>
          <a:lstStyle/>
          <a:p>
            <a:pPr algn="just"/>
            <a:r>
              <a:rPr sz="1300" b="0">
                <a:solidFill>
                  <a:srgbClr val="888888"/>
                </a:solidFill>
                <a:latin typeface="Lato"/>
              </a:rPr>
              <a:t>Бала кезімде өз ортамда мен алға шыққан, белсенді, батыл болып көрінетін едім. Сол ортада менің сенімім шексіз, өзімді мықты сезінетінмін. Барлық қиындыққа дайын, барін жасай алатын сияқтымын. Алайда жаңа ортаға келгенде жағдай өзгере бастады.</a:t>
            </a:r>
          </a:p>
        </p:txBody>
      </p:sp>
      <p:pic>
        <p:nvPicPr>
          <p:cNvPr id="94" name="Picture 93" descr="image.png"/>
          <p:cNvPicPr>
            <a:picLocks noChangeAspect="1"/>
          </p:cNvPicPr>
          <p:nvPr/>
        </p:nvPicPr>
        <p:blipFill>
          <a:blip r:embed="rId4"/>
          <a:stretch>
            <a:fillRect/>
          </a:stretch>
        </p:blipFill>
        <p:spPr>
          <a:xfrm>
            <a:off x="8778240" y="1371600"/>
            <a:ext cx="2926080" cy="2948940"/>
          </a:xfrm>
          <a:prstGeom prst="ellipse">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Oval 1"/>
          <p:cNvSpPr/>
          <p:nvPr/>
        </p:nvSpPr>
        <p:spPr>
          <a:xfrm>
            <a:off x="426720"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85216"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43712"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705600" y="514350"/>
            <a:ext cx="48768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pic>
        <p:nvPicPr>
          <p:cNvPr id="6" name="Picture 5" descr="image.png"/>
          <p:cNvPicPr>
            <a:picLocks noChangeAspect="1"/>
          </p:cNvPicPr>
          <p:nvPr/>
        </p:nvPicPr>
        <p:blipFill>
          <a:blip r:embed="rId3"/>
          <a:stretch>
            <a:fillRect/>
          </a:stretch>
        </p:blipFill>
        <p:spPr>
          <a:xfrm>
            <a:off x="0" y="5897880"/>
            <a:ext cx="12192000" cy="960120"/>
          </a:xfrm>
          <a:prstGeom prst="rect">
            <a:avLst/>
          </a:prstGeom>
        </p:spPr>
      </p:pic>
      <p:sp>
        <p:nvSpPr>
          <p:cNvPr id="7" name="TextBox 6"/>
          <p:cNvSpPr txBox="1"/>
          <p:nvPr/>
        </p:nvSpPr>
        <p:spPr>
          <a:xfrm>
            <a:off x="1706880" y="274320"/>
            <a:ext cx="6096000" cy="822960"/>
          </a:xfrm>
          <a:prstGeom prst="rect">
            <a:avLst/>
          </a:prstGeom>
          <a:noFill/>
        </p:spPr>
        <p:txBody>
          <a:bodyPr wrap="square">
            <a:spAutoFit/>
          </a:bodyPr>
          <a:lstStyle/>
          <a:p>
            <a:pPr algn="ctr"/>
            <a:r>
              <a:rPr sz="2600" b="0">
                <a:solidFill>
                  <a:srgbClr val="1D1D1D"/>
                </a:solidFill>
                <a:latin typeface="Lora"/>
              </a:rPr>
              <a:t>Болашақ маман имиджі</a:t>
            </a:r>
          </a:p>
        </p:txBody>
      </p:sp>
      <p:sp>
        <p:nvSpPr>
          <p:cNvPr id="8" name="TextBox 7"/>
          <p:cNvSpPr txBox="1"/>
          <p:nvPr/>
        </p:nvSpPr>
        <p:spPr>
          <a:xfrm>
            <a:off x="853440" y="1371600"/>
            <a:ext cx="6705600" cy="4114800"/>
          </a:xfrm>
          <a:prstGeom prst="rect">
            <a:avLst/>
          </a:prstGeom>
          <a:noFill/>
        </p:spPr>
        <p:txBody>
          <a:bodyPr wrap="square">
            <a:spAutoFit/>
          </a:bodyPr>
          <a:lstStyle/>
          <a:p>
            <a:pPr algn="just"/>
            <a:r>
              <a:rPr sz="1700" b="0">
                <a:solidFill>
                  <a:srgbClr val="222222"/>
                </a:solidFill>
                <a:latin typeface="Lato"/>
              </a:rPr>
              <a:t>Бала кезімде өз ортамда мен алға шыққан, белсенді, батыл болып көрінетін едім. Сол ортада менің сенімім шексіз, өзімді мықты сезінетінмін. Барлық қиындыққа дайын, барін жасай алатын сияқтымын. Алайда жаңа ортаға келгенде жағдай өзгере бастады.</a:t>
            </a:r>
          </a:p>
        </p:txBody>
      </p:sp>
      <p:pic>
        <p:nvPicPr>
          <p:cNvPr id="9" name="Picture 8" descr="image.png"/>
          <p:cNvPicPr>
            <a:picLocks noChangeAspect="1"/>
          </p:cNvPicPr>
          <p:nvPr/>
        </p:nvPicPr>
        <p:blipFill>
          <a:blip r:embed="rId4"/>
          <a:stretch>
            <a:fillRect/>
          </a:stretch>
        </p:blipFill>
        <p:spPr>
          <a:xfrm>
            <a:off x="8290560" y="1165860"/>
            <a:ext cx="3169920" cy="3154680"/>
          </a:xfrm>
          <a:prstGeom prst="ellipse">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Oval 1"/>
          <p:cNvSpPr/>
          <p:nvPr/>
        </p:nvSpPr>
        <p:spPr>
          <a:xfrm>
            <a:off x="426720"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85216"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43712"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705600" y="514350"/>
            <a:ext cx="48768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pic>
        <p:nvPicPr>
          <p:cNvPr id="6" name="Picture 5" descr="image.png"/>
          <p:cNvPicPr>
            <a:picLocks noChangeAspect="1"/>
          </p:cNvPicPr>
          <p:nvPr/>
        </p:nvPicPr>
        <p:blipFill>
          <a:blip r:embed="rId3"/>
          <a:stretch>
            <a:fillRect/>
          </a:stretch>
        </p:blipFill>
        <p:spPr>
          <a:xfrm>
            <a:off x="0" y="5897880"/>
            <a:ext cx="12192000" cy="960120"/>
          </a:xfrm>
          <a:prstGeom prst="rect">
            <a:avLst/>
          </a:prstGeom>
        </p:spPr>
      </p:pic>
      <p:sp>
        <p:nvSpPr>
          <p:cNvPr id="7" name="TextBox 6"/>
          <p:cNvSpPr txBox="1"/>
          <p:nvPr/>
        </p:nvSpPr>
        <p:spPr>
          <a:xfrm>
            <a:off x="1706880" y="274320"/>
            <a:ext cx="6096000" cy="822960"/>
          </a:xfrm>
          <a:prstGeom prst="rect">
            <a:avLst/>
          </a:prstGeom>
          <a:noFill/>
        </p:spPr>
        <p:txBody>
          <a:bodyPr wrap="square">
            <a:spAutoFit/>
          </a:bodyPr>
          <a:lstStyle/>
          <a:p>
            <a:pPr algn="ctr"/>
            <a:r>
              <a:rPr sz="2600" b="0">
                <a:solidFill>
                  <a:srgbClr val="1D1D1D"/>
                </a:solidFill>
                <a:latin typeface="Lora"/>
              </a:rPr>
              <a:t>Болашақтағы мен</a:t>
            </a:r>
          </a:p>
        </p:txBody>
      </p:sp>
      <p:sp>
        <p:nvSpPr>
          <p:cNvPr id="8" name="TextBox 7"/>
          <p:cNvSpPr txBox="1"/>
          <p:nvPr/>
        </p:nvSpPr>
        <p:spPr>
          <a:xfrm>
            <a:off x="853440" y="1371600"/>
            <a:ext cx="6705600" cy="4114800"/>
          </a:xfrm>
          <a:prstGeom prst="rect">
            <a:avLst/>
          </a:prstGeom>
          <a:noFill/>
        </p:spPr>
        <p:txBody>
          <a:bodyPr wrap="square">
            <a:spAutoFit/>
          </a:bodyPr>
          <a:lstStyle/>
          <a:p>
            <a:pPr algn="just"/>
            <a:r>
              <a:rPr sz="1700" b="0">
                <a:solidFill>
                  <a:srgbClr val="222222"/>
                </a:solidFill>
                <a:latin typeface="Lato"/>
              </a:rPr>
              <a:t>Бала кезімде өз ортамда мен алға шыққан, белсенді, батыл болып көрінетін едім. Сол ортада менің сенімім шексіз, өзімді мықты сезінетінмін. Барлық қиындыққа дайын, барін жасай алатын сияқтымын. Алайда жаңа ортаға келгенде жағдай өзгере бастады.</a:t>
            </a:r>
          </a:p>
        </p:txBody>
      </p:sp>
      <p:pic>
        <p:nvPicPr>
          <p:cNvPr id="9" name="Picture 8" descr="image.png"/>
          <p:cNvPicPr>
            <a:picLocks noChangeAspect="1"/>
          </p:cNvPicPr>
          <p:nvPr/>
        </p:nvPicPr>
        <p:blipFill>
          <a:blip r:embed="rId4"/>
          <a:stretch>
            <a:fillRect/>
          </a:stretch>
        </p:blipFill>
        <p:spPr>
          <a:xfrm>
            <a:off x="8290560" y="1165860"/>
            <a:ext cx="3169920" cy="3154680"/>
          </a:xfrm>
          <a:prstGeom prst="ellipse">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Oval 1"/>
          <p:cNvSpPr/>
          <p:nvPr/>
        </p:nvSpPr>
        <p:spPr>
          <a:xfrm>
            <a:off x="426720"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85216"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43712" y="514350"/>
            <a:ext cx="109727" cy="109728"/>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705600" y="514350"/>
            <a:ext cx="48768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pic>
        <p:nvPicPr>
          <p:cNvPr id="6" name="Picture 5" descr="image.png"/>
          <p:cNvPicPr>
            <a:picLocks noChangeAspect="1"/>
          </p:cNvPicPr>
          <p:nvPr/>
        </p:nvPicPr>
        <p:blipFill>
          <a:blip r:embed="rId3"/>
          <a:stretch>
            <a:fillRect/>
          </a:stretch>
        </p:blipFill>
        <p:spPr>
          <a:xfrm>
            <a:off x="0" y="5897880"/>
            <a:ext cx="12192000" cy="960120"/>
          </a:xfrm>
          <a:prstGeom prst="rect">
            <a:avLst/>
          </a:prstGeom>
        </p:spPr>
      </p:pic>
      <p:sp>
        <p:nvSpPr>
          <p:cNvPr id="7" name="TextBox 6"/>
          <p:cNvSpPr txBox="1"/>
          <p:nvPr/>
        </p:nvSpPr>
        <p:spPr>
          <a:xfrm>
            <a:off x="1706880" y="274320"/>
            <a:ext cx="8778240" cy="822960"/>
          </a:xfrm>
          <a:prstGeom prst="rect">
            <a:avLst/>
          </a:prstGeom>
          <a:noFill/>
        </p:spPr>
        <p:txBody>
          <a:bodyPr wrap="square">
            <a:spAutoFit/>
          </a:bodyPr>
          <a:lstStyle/>
          <a:p>
            <a:pPr algn="ctr"/>
            <a:r>
              <a:rPr sz="2600" b="0">
                <a:solidFill>
                  <a:srgbClr val="1D1D1D"/>
                </a:solidFill>
                <a:latin typeface="Lora"/>
              </a:rPr>
              <a:t>Қорытынды</a:t>
            </a:r>
          </a:p>
        </p:txBody>
      </p:sp>
      <p:sp>
        <p:nvSpPr>
          <p:cNvPr id="8" name="TextBox 7"/>
          <p:cNvSpPr txBox="1"/>
          <p:nvPr/>
        </p:nvSpPr>
        <p:spPr>
          <a:xfrm>
            <a:off x="853440" y="1371600"/>
            <a:ext cx="10485120" cy="4114800"/>
          </a:xfrm>
          <a:prstGeom prst="rect">
            <a:avLst/>
          </a:prstGeom>
          <a:noFill/>
        </p:spPr>
        <p:txBody>
          <a:bodyPr wrap="square">
            <a:spAutoFit/>
          </a:bodyPr>
          <a:lstStyle/>
          <a:p>
            <a:pPr algn="just"/>
            <a:r>
              <a:rPr sz="1700" b="0">
                <a:solidFill>
                  <a:srgbClr val="222222"/>
                </a:solidFill>
                <a:latin typeface="Lato"/>
              </a:rPr>
              <a:t>Бала кезімде өз ортамда мен алға шыққан, белсенді, батыл болып көрінетін едім. Сол ортада менің сенімім шексіз, өзімді мықты сезінетінмін. Барлық қиындыққа дайын, барін жасай алатын сияқтымын. Алайда жаңа ортаға келгенде жағдай өзгере бастады.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